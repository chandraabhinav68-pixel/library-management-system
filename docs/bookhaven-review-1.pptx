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a9aaa844e549f5" /><Relationship Type="http://schemas.openxmlformats.org/officeDocument/2006/relationships/extended-properties" Target="/docProps/app.xml" Id="Rbd3f44fe6ad14f4a" /><Relationship Type="http://schemas.openxmlformats.org/officeDocument/2006/relationships/officeDocument" Target="/ppt/presentation.xml" Id="Rf9812ba6eb0e4b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27152819a7464f"/>
  </p:sldMasterIdLst>
  <p:notesMasterIdLst>
    <p:notesMasterId xmlns:r="http://schemas.openxmlformats.org/officeDocument/2006/relationships" r:id="Rd8898b13046b46e4"/>
  </p:notesMasterIdLst>
  <p:sldIdLst>
    <p:sldId xmlns:r="http://schemas.openxmlformats.org/officeDocument/2006/relationships" id="256" r:id="R8a3e93c416f449e6"/>
    <p:sldId xmlns:r="http://schemas.openxmlformats.org/officeDocument/2006/relationships" id="257" r:id="Rf02485f53b504d89"/>
    <p:sldId xmlns:r="http://schemas.openxmlformats.org/officeDocument/2006/relationships" id="258" r:id="R273a23d75f8d4a03"/>
    <p:sldId xmlns:r="http://schemas.openxmlformats.org/officeDocument/2006/relationships" id="259" r:id="Rc14bf8ef00cf4cd8"/>
    <p:sldId xmlns:r="http://schemas.openxmlformats.org/officeDocument/2006/relationships" id="260" r:id="R559ad2d1c8844875"/>
    <p:sldId xmlns:r="http://schemas.openxmlformats.org/officeDocument/2006/relationships" id="261" r:id="R3a1c00eff4b3401f"/>
    <p:sldId xmlns:r="http://schemas.openxmlformats.org/officeDocument/2006/relationships" id="262" r:id="R32f348cfec3b49ed"/>
    <p:sldId xmlns:r="http://schemas.openxmlformats.org/officeDocument/2006/relationships" id="263" r:id="R97c9e68190e24b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f97728c45c4a97" /><Relationship Type="http://schemas.openxmlformats.org/officeDocument/2006/relationships/slideMaster" Target="/ppt/slideMasters/slideMaster1.xml" Id="Rd427152819a7464f" /><Relationship Type="http://schemas.openxmlformats.org/officeDocument/2006/relationships/notesMaster" Target="/ppt/notesMasters/notesMaster1.xml" Id="Rd8898b13046b46e4" /><Relationship Type="http://schemas.openxmlformats.org/officeDocument/2006/relationships/presProps" Target="/ppt/presProps.xml" Id="R14f2156612684532" /><Relationship Type="http://schemas.openxmlformats.org/officeDocument/2006/relationships/tableStyles" Target="/ppt/tableStyles.xml" Id="Rc263512d53b94954" /><Relationship Type="http://schemas.openxmlformats.org/officeDocument/2006/relationships/slide" Target="/ppt/slides/slide1.xml" Id="R8a3e93c416f449e6" /><Relationship Type="http://schemas.openxmlformats.org/officeDocument/2006/relationships/slide" Target="/ppt/slides/slide2.xml" Id="Rf02485f53b504d89" /><Relationship Type="http://schemas.openxmlformats.org/officeDocument/2006/relationships/slide" Target="/ppt/slides/slide3.xml" Id="R273a23d75f8d4a03" /><Relationship Type="http://schemas.openxmlformats.org/officeDocument/2006/relationships/slide" Target="/ppt/slides/slide4.xml" Id="Rc14bf8ef00cf4cd8" /><Relationship Type="http://schemas.openxmlformats.org/officeDocument/2006/relationships/slide" Target="/ppt/slides/slide5.xml" Id="R559ad2d1c8844875" /><Relationship Type="http://schemas.openxmlformats.org/officeDocument/2006/relationships/slide" Target="/ppt/slides/slide6.xml" Id="R3a1c00eff4b3401f" /><Relationship Type="http://schemas.openxmlformats.org/officeDocument/2006/relationships/slide" Target="/ppt/slides/slide7.xml" Id="R32f348cfec3b49ed" /><Relationship Type="http://schemas.openxmlformats.org/officeDocument/2006/relationships/slide" Target="/ppt/slides/slide8.xml" Id="R97c9e68190e24b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7bd739007c43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3f632d835144fc" /><Relationship Type="http://schemas.openxmlformats.org/officeDocument/2006/relationships/notesMaster" Target="/ppt/notesMasters/notesMaster1.xml" Id="R036ccfcface247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d32334feff4e98" /><Relationship Type="http://schemas.openxmlformats.org/officeDocument/2006/relationships/notesMaster" Target="/ppt/notesMasters/notesMaster1.xml" Id="R582ecea5172c4b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5f8a6a10fe414e" /><Relationship Type="http://schemas.openxmlformats.org/officeDocument/2006/relationships/notesMaster" Target="/ppt/notesMasters/notesMaster1.xml" Id="R54780b1e2cfa4c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6326fd98d34d71" /><Relationship Type="http://schemas.openxmlformats.org/officeDocument/2006/relationships/notesMaster" Target="/ppt/notesMasters/notesMaster1.xml" Id="Raec5851af3244b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cc7102ca23402e" /><Relationship Type="http://schemas.openxmlformats.org/officeDocument/2006/relationships/notesMaster" Target="/ppt/notesMasters/notesMaster1.xml" Id="Ra2ee4398f0c240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2b4fc96d5e4760" /><Relationship Type="http://schemas.openxmlformats.org/officeDocument/2006/relationships/notesMaster" Target="/ppt/notesMasters/notesMaster1.xml" Id="R8ad84a3a23fa44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27f82c6c3a44d7" /><Relationship Type="http://schemas.openxmlformats.org/officeDocument/2006/relationships/notesMaster" Target="/ppt/notesMasters/notesMaster1.xml" Id="R519b07ce588445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7c7f74adae452d" /><Relationship Type="http://schemas.openxmlformats.org/officeDocument/2006/relationships/notesMaster" Target="/ppt/notesMasters/notesMaster1.xml" Id="R9a9434c01c414e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your team and the purpose of Book Haven: a small-library circulation and catalog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initial release focuses on the librarian desk. Authentication, fines, reminders and deployment are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this sequence in the running application. Loans are due two weeks after issue.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embedded Tomcat server mounts the static web page and servlet APIs. Database access uses JDBC with H2. The issue workflow uses a row lock and transaction to guard the copy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active loan has a null returned_on date. A book and member can each have many loans over time. Unique ISBN and email constraints prevent duplicate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is implemented in index.html, styles.css and app.js. This diagram is an explanatory wireframe; displayed counts are illustrative, not live database results. Capture actual desktop and mobile screenshots after running the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Review 1 web rubric emphasizes design, core Java, JDBC and servlet integration. This slide also calls out the generic repository, exception handling and background scan for Java concepts.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presenting, replace team names on the cover, run the app, and capture actual desktop/mobile screenshots. The repository README contains setup and endpoint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7196ac35d4d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296913ad74a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10620051541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e3301240d49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b5671f49045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84adba6ac4c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1EF3E1-99CE-4DCC-88E2-ED515F9BB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A894DC-102E-4799-96FC-EA6E3405D0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EF5022-38BE-458F-AC67-188F4F03E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C39BE2-8F29-4ED5-B96B-067BFF580E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3E1074-7888-4C3E-9E9D-BB5A9EFFC5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6C7548-3FCF-4E9A-B573-2B2A0B4D8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5C3312-892D-4724-8144-B9C46E4AC9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362F1F-A388-47C2-BFC4-145BC60EFE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D36FC8-AC14-4CCD-ACE8-D947B882EB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AF6FE6-4DC6-4A9A-A9C0-22F2101A8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2ece0c61784f2b" /><Relationship Type="http://schemas.openxmlformats.org/officeDocument/2006/relationships/slideLayout" Target="/ppt/slideLayouts/slideLayout1.xml" Id="Rc3d398b96cec48e9" /><Relationship Type="http://schemas.openxmlformats.org/officeDocument/2006/relationships/slideLayout" Target="/ppt/slideLayouts/slideLayout2.xml" Id="R1160faa4fbf84a0d" /><Relationship Type="http://schemas.openxmlformats.org/officeDocument/2006/relationships/slideLayout" Target="/ppt/slideLayouts/slideLayout3.xml" Id="Rf12674a4571a4c5e" /><Relationship Type="http://schemas.openxmlformats.org/officeDocument/2006/relationships/slideLayout" Target="/ppt/slideLayouts/slideLayout4.xml" Id="Rb25426b769394356" /><Relationship Type="http://schemas.openxmlformats.org/officeDocument/2006/relationships/slideLayout" Target="/ppt/slideLayouts/slideLayout5.xml" Id="R7b6bf7b488e94932" /><Relationship Type="http://schemas.openxmlformats.org/officeDocument/2006/relationships/slideLayout" Target="/ppt/slideLayouts/slideLayout6.xml" Id="Rf45b695e3a184e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d398b96cec48e9"/>
    <p:sldLayoutId xmlns:r="http://schemas.openxmlformats.org/officeDocument/2006/relationships" id="2147483650" r:id="R1160faa4fbf84a0d"/>
    <p:sldLayoutId xmlns:r="http://schemas.openxmlformats.org/officeDocument/2006/relationships" id="2147483651" r:id="Rf12674a4571a4c5e"/>
    <p:sldLayoutId xmlns:r="http://schemas.openxmlformats.org/officeDocument/2006/relationships" id="2147483652" r:id="Rb25426b769394356"/>
    <p:sldLayoutId xmlns:r="http://schemas.openxmlformats.org/officeDocument/2006/relationships" id="2147483653" r:id="R7b6bf7b488e94932"/>
    <p:sldLayoutId xmlns:r="http://schemas.openxmlformats.org/officeDocument/2006/relationships" id="2147483654" r:id="Rf45b695e3a184e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ff5a9392b4c31" /><Relationship Type="http://schemas.openxmlformats.org/officeDocument/2006/relationships/notesSlide" Target="/ppt/notesSlides/notesSlide1.xml" Id="R77f5396f291049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11c0d94b84d50" /><Relationship Type="http://schemas.openxmlformats.org/officeDocument/2006/relationships/notesSlide" Target="/ppt/notesSlides/notesSlide2.xml" Id="Redac36765a4648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1bbfc7b4904fb8" /><Relationship Type="http://schemas.openxmlformats.org/officeDocument/2006/relationships/notesSlide" Target="/ppt/notesSlides/notesSlide3.xml" Id="Rd03d1997078f43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6986e6d6c40dc" /><Relationship Type="http://schemas.openxmlformats.org/officeDocument/2006/relationships/notesSlide" Target="/ppt/notesSlides/notesSlide4.xml" Id="Rdf100fe9fbc749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1b5ca8ec94913" /><Relationship Type="http://schemas.openxmlformats.org/officeDocument/2006/relationships/notesSlide" Target="/ppt/notesSlides/notesSlide5.xml" Id="R42410fd69e9b40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81ce2d1624c67" /><Relationship Type="http://schemas.openxmlformats.org/officeDocument/2006/relationships/notesSlide" Target="/ppt/notesSlides/notesSlide6.xml" Id="Rc0902b894b0840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5376036e9433d" /><Relationship Type="http://schemas.openxmlformats.org/officeDocument/2006/relationships/notesSlide" Target="/ppt/notesSlides/notesSlide7.xml" Id="R05fc29d6bbd44e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69badd219458a" /><Relationship Type="http://schemas.openxmlformats.org/officeDocument/2006/relationships/notesSlide" Target="/ppt/notesSlides/notesSlide8.xml" Id="R95c5dddef5cc45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5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237085-A1CE-4B0F-B768-6F11077E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2945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49D57-F05E-4D5B-B0D5-4130D6D5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304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208C3-0E16-49D4-AA1D-670B5EB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6858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38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BF789-2139-4B93-BA2F-7D615ED8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C9D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9D8C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D8CD"/>
                </a:solidFill>
                <a:latin typeface="Arial"/>
                <a:ea typeface="Arial"/>
                <a:cs typeface="Arial"/>
              </a:rPr>
              <a:t>BOOK HAVEN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CDAFF-BE1C-4C07-826C-25EB6F25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85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</a:p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Management</a:t>
            </a:r>
          </a:p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A0918-D7AA-45F8-AF01-66EDE5ED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672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D5DE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5DE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5DED6"/>
                </a:solidFill>
                <a:latin typeface="Arial"/>
                <a:ea typeface="Arial"/>
                <a:cs typeface="Arial"/>
              </a:rPr>
              <a:t>Java web application  ·  Review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92A4C-777F-475B-91AD-A34177D9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000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8B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03D39-319A-4CEB-83EC-1035648D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29225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D5DE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5DED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5DED6"/>
                </a:solidFill>
                <a:latin typeface="Arial"/>
                <a:ea typeface="Arial"/>
                <a:cs typeface="Arial"/>
              </a:rPr>
              <a:t>Catalog · Members · Loans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C21ED-375A-4BF5-A876-87B1D9FD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B7C8B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B7C8B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8BA"/>
                </a:solidFill>
                <a:latin typeface="Arial"/>
                <a:ea typeface="Arial"/>
                <a:cs typeface="Arial"/>
              </a:rPr>
              <a:t>TEAM: ADD NAMES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67CE5-34D2-47D9-A7F7-036AF185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33625"/>
            <a:ext cx="466725" cy="29051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C1B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3B9E4-CFA8-45B6-AFD6-BB309032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2412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81E4C-DF32-4D59-BF8E-54721556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95575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68601-F72E-4BA3-8A42-79C6D5F8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524000"/>
            <a:ext cx="466725" cy="3714750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DBA4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E035C-BCA6-4F30-8A21-5C8A4358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714500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333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104BA-0147-4835-88F5-235F7E3F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8595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7B32E-5B71-40B9-94EE-44CD90FB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19300"/>
            <a:ext cx="466725" cy="3219450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91A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662C6-3559-431D-BFC4-AEBBF194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EC526-B6E0-4A75-96BB-71C6F902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8125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640AA-E8B5-4EB8-B187-A3FEAA0D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190625"/>
            <a:ext cx="466725" cy="40481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D4C2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C603A-3797-4B09-9BEB-E625CDF8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38112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F584B-793E-4B49-9855-03F2793D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52575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C9B83-09B2-4A4E-B789-862882E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790700"/>
            <a:ext cx="466725" cy="3448050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9DB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3C793-E5FD-473B-8785-47E1DD4B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981200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69386-B6E0-4A5B-A51D-2320B3FF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215265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91745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62CEB-E838-4427-9E09-C7A72AFA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01 · PROJECT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9F637-ACE7-40D5-91DF-09151340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Problem and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0F596-9E41-4460-9974-F10A0B19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91146-943E-464D-9D6C-8ADF9DC1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JAVA 21  ·  JAKARTA SERVLETS  ·  JDBC + H2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1AB64-2EC6-4E8F-881D-79E9178D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C331B-2906-4B2E-AFF5-86E6BE15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Library staff need one dependable view of the collection and who has borrowed each copy.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DEB7C-A406-47C8-854B-494D82E0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33528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7CFCE-B814-4CE0-9CAC-0A3B9895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000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F7F11-C195-428D-A9C3-F25DCACC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826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826FA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26F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57DF7-CE55-4EAC-8E27-6880B5B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2876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Finding a title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CEF60-05CC-4922-B553-07B615B1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Paper lists slow down searches and make availability hard to confirm.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34E84-A438-42BA-855E-E0DEF89F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19350"/>
            <a:ext cx="33528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A4063-F151-4EDB-A735-F494DAEF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4000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8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A58B5-A19E-4732-8B50-C75E331D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574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B97C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B97C5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7C5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D791F-C5D4-45E1-9646-5533712E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86100"/>
            <a:ext cx="2876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Tracking a loan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C93E2-898C-4DDF-8318-0C905E4E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Borrower names and due dates can be missed when records are split.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FDE6E-7F3F-4CC3-B43C-FAE120DD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528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D0AEB-1DAD-4649-913D-377B35CF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4000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FC766-3CE8-4708-9A5D-8CE61360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574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AF6D9-AC0B-4BF5-8D4F-92A7F6D3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86100"/>
            <a:ext cx="2876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Welcoming readers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18AE8-5654-4A7C-A619-0364AACC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Member details and borrowing history need a consistent home.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B21E8-53F8-4DAB-99E2-27E71021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57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45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C4165-6168-44CF-A5D1-EA8A94C1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D7E5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D7E5D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5DA"/>
                </a:solidFill>
                <a:latin typeface="Arial"/>
                <a:ea typeface="Arial"/>
                <a:cs typeface="Arial"/>
              </a:rPr>
              <a:t>BOOK HAVEN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6170B-7BE5-4C95-A863-E7F789CC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the catalog, register members, issue available copies, and record returns.</a:t>
            </a:r>
          </a:p>
        </p:txBody>
      </p:sp>
    </p:spTree>
    <p:extLst>
      <p:ext uri="{BB962C8B-B14F-4D97-AF65-F5344CB8AC3E}">
        <p14:creationId xmlns:p14="http://schemas.microsoft.com/office/powerpoint/2010/main" val="2105138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F85C28-0FC9-41FC-AF00-C76F2ED1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02 · SOLUTION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E7AE4-354F-4D3E-83D7-5B2F79A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Library desk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41489-B4D7-4581-ACCC-7D867876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6D2E3-4918-4B3F-88C9-6BC19D62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JAVA 21  ·  JAKARTA SERVLETS  ·  JDBC + H2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2F764-3ECB-4DF4-8B81-BB6A37B6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8BD46-C370-4112-9483-08CB5717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A short, repeatable circulation flow keeps availability and loan history aligned.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879A5-8657-4FDB-8D84-19183847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3812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50A4A-8E08-4E1D-A2B6-03E0781E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000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7EF61-48C0-489F-B2F8-4A7B212E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8D6E5-93B4-4A97-B71A-CC4DB422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72AB7-44DC-4DCA-A92B-4B17C8C9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Find by title, author, or category.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9CE31-7A7F-437D-8E26-4B007FFC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19450"/>
            <a:ext cx="2571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FC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A5C4D-0B65-4102-9765-B228882C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3812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76F7D-A70A-42D6-B2FC-5F01604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000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0AA64-0DAA-449F-8CFE-61857ACF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003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77FBC-BFB8-4EED-96FA-B2732831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384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E4544-7005-4646-A304-56442F6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Choose an available copy and member.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6BAD9-13D5-44A4-910A-620B96B3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2571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FC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C5FFE-009D-4BD9-92A5-CD88355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3812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018CE-320D-4DEA-884C-21B07946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000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EED4B-3BFA-4325-A7B0-2CA2784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03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CBB7B-8D73-45B2-B936-9CC492B2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384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95218-A79C-4695-B79D-2C57D19D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Save the loan and 14-day due date.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28610-A362-4087-9836-C2409B2D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2571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FC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56AD6-7C61-4BD5-8D48-FE0CBB32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81250"/>
            <a:ext cx="23812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D0120C-D726-4651-A552-A0F975D4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000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1DCDC7-11FE-4058-A5CE-9F0D531A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03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794516-1245-460F-BC91-1A8B0FC2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384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39E6B7-D2C4-4800-985E-E5AC048F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052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Close the loan and restore availability.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40A7EA-9D7A-498F-A233-93E42F55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572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839EB2-555A-4A06-B52D-5A5A4EC0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B97C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B97C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97C55"/>
                </a:solidFill>
                <a:latin typeface="Arial"/>
                <a:ea typeface="Arial"/>
                <a:cs typeface="Arial"/>
              </a:rPr>
              <a:t>GUARDRAIL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DB76C4-6E33-486B-A877-03AEFF92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0577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4241F"/>
                </a:solidFill>
                <a:latin typeface="Arial"/>
                <a:ea typeface="Arial"/>
                <a:cs typeface="Arial"/>
              </a:rPr>
              <a:t>An issue is blocked when no copy is available; returns can only be recorded once.</a:t>
            </a:r>
          </a:p>
        </p:txBody>
      </p:sp>
    </p:spTree>
    <p:extLst>
      <p:ext uri="{BB962C8B-B14F-4D97-AF65-F5344CB8AC3E}">
        <p14:creationId xmlns:p14="http://schemas.microsoft.com/office/powerpoint/2010/main" val="141357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D79773-AD32-4F49-8D8A-823E8689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03 · TECHNICAL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59FFE-AAE9-4DA1-8B83-B24A2AAD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01B13-B773-447F-A927-B7200C18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E0116-3CCF-41CE-AE37-9E525F40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JAVA 21  ·  JAKARTA SERVLETS  ·  JDBC + H2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398EC-4003-4965-A25C-639591EE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6BBD2-3E6A-40D0-BBC0-4544DE30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Each layer has one job, so interface handling, business rules, and SQL stay easy to follow.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49E55-36E6-4012-9646-9547CAB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685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AD2D0-6109-411E-913C-BAA6E15B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6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B239A-051F-433F-8F48-07DBCDF4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Browser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9120E-4243-4BD5-918B-3FB10AA7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71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HTML · CSS · JavaScript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BF160-B065-49D4-B62F-5E6E24FA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81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826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826FA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26FA6"/>
                </a:solidFill>
                <a:latin typeface="Arial"/>
                <a:ea typeface="Arial"/>
                <a:cs typeface="Arial"/>
              </a:rPr>
              <a:t>Responsive dashboard + forms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BB699-89DB-472B-8A28-75C76348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76525"/>
            <a:ext cx="238125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FC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B62DA-A7AE-4A6A-8B3E-41287562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685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0AE74-C09B-4424-9213-FC37A4F3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83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0AA1F-247C-4A5F-80A9-131C10C9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146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Servlets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82CCE-09E1-4E69-AB1B-D282BF65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14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Jakarta Servlet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42105-584D-4F8C-994A-C55D9E86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24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6783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78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7839E"/>
                </a:solidFill>
                <a:latin typeface="Arial"/>
                <a:ea typeface="Arial"/>
                <a:cs typeface="Arial"/>
              </a:rPr>
              <a:t>JSON HTTP endpoints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94D8D-E942-4D6D-89E7-924F5484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19475"/>
            <a:ext cx="238125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FC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7B64D-B77F-4407-B862-C5861EEF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81400"/>
            <a:ext cx="685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3B151-D143-4A6A-AC68-0C66FB89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8140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01417-3905-4310-9035-A056270F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57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Service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40AFC-BBED-4B21-88ED-532BE476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57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LibraryService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A9E2B1-5F54-4955-BC63-6EB8A682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67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345A48"/>
                </a:solidFill>
                <a:latin typeface="Arial"/>
                <a:ea typeface="Arial"/>
                <a:cs typeface="Arial"/>
              </a:rPr>
              <a:t>Validation + circulation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14321-97D3-4EC6-83AF-5E23B7F5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62425"/>
            <a:ext cx="238125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FC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DF7D3-AF93-4EAF-B5A9-91CDB994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24350"/>
            <a:ext cx="685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CB952B-8D77-41E4-A4B3-F7E035EE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2435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7C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6E41AA-732C-41DD-86EC-06BD57A9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00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Repositories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CB763-C833-4C05-A955-DD618CC0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00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JDBC interfaces + implementations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7CBB9B-E976-4DB9-9E63-D1DE6C38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10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B97C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97C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97C55"/>
                </a:solidFill>
                <a:latin typeface="Arial"/>
                <a:ea typeface="Arial"/>
                <a:cs typeface="Arial"/>
              </a:rPr>
              <a:t>Prepared SQL + transactions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3D7038-EFF2-4C3E-BA85-652B65F0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05375"/>
            <a:ext cx="238125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FC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0ECF24-E2D4-4997-979D-141F8BCF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67300"/>
            <a:ext cx="6858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D164E7-7848-4152-8857-9D9A06E4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6730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F7F2E1-09C8-43D8-8449-1D45AAAB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43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87B671-976F-45E9-B7D3-E782B1E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143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H2 file database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E901EE-F874-45B9-BA4B-7172DA38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4241F"/>
                </a:solidFill>
                <a:latin typeface="Arial"/>
                <a:ea typeface="Arial"/>
                <a:cs typeface="Arial"/>
              </a:rPr>
              <a:t>Books · Members · Loans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62015D-3F74-4491-BDC2-112309AC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238375" cy="347662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E3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B2AC69-DEAE-4D14-8815-30B71BA5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98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C8D8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C8D8C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8D8CC"/>
                </a:solidFill>
                <a:latin typeface="Arial"/>
                <a:ea typeface="Arial"/>
                <a:cs typeface="Arial"/>
              </a:rPr>
              <a:t>BACKGROUND TASK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BD128F-FCD2-4FA2-9732-DA41B5DD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Overdue scan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1B4481-007B-4438-B648-818E87F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DAE2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DAE2D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AE2DB"/>
                </a:solidFill>
                <a:latin typeface="Arial"/>
                <a:ea typeface="Arial"/>
                <a:cs typeface="Arial"/>
              </a:rPr>
              <a:t>A scheduled executor checks active loans and logs overdue items.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43FC94-29A5-47AF-AD9C-1175BAAC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00550"/>
            <a:ext cx="1762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816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291058-DC17-43B7-A170-CCC533CC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29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C8D8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C8D8C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8D8CC"/>
                </a:solidFill>
                <a:latin typeface="Arial"/>
                <a:ea typeface="Arial"/>
                <a:cs typeface="Arial"/>
              </a:rPr>
              <a:t>REQUEST SAFETY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09F0A1-0643-4B45-8C8D-A6334750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958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DAE2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DAE2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AE2DB"/>
                </a:solidFill>
                <a:latin typeface="Arial"/>
                <a:ea typeface="Arial"/>
                <a:cs typeface="Arial"/>
              </a:rPr>
              <a:t>Issue transaction locks the book row while availability is checked and updated.</a:t>
            </a:r>
          </a:p>
        </p:txBody>
      </p:sp>
    </p:spTree>
    <p:extLst>
      <p:ext uri="{BB962C8B-B14F-4D97-AF65-F5344CB8AC3E}">
        <p14:creationId xmlns:p14="http://schemas.microsoft.com/office/powerpoint/2010/main" val="12587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153446-AC26-460F-B4B0-EC6390A3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04 ·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7E24B-95A0-4855-A43B-61B561F6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BB34E-2CD2-46D3-97D4-B3488875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06764-5D8A-4676-BACA-AE9B5A80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JAVA 21  ·  JAKARTA SERVLETS  ·  JDBC + H2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D4C41-061B-42A3-87CE-014A3E28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6CFE9-46F3-4576-BCE2-88EF39DF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Three normalized tables keep book and member details in one place and preserve circulation history.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833B5-74F6-4363-8A84-27660C7C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0289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B0F9C-B413-4F62-AB99-F48EC05B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0289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AB36A-01B1-4F42-ADC7-8AEBD291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077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826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26F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26FA6"/>
                </a:solidFill>
                <a:latin typeface="Arial"/>
                <a:ea typeface="Arial"/>
                <a:cs typeface="Arial"/>
              </a:rPr>
              <a:t>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AD65E-4925-4745-91AB-714C064D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PK 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BFD64-A80A-42D8-BBA7-332D07AD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5444D-C79A-4472-AE93-818BF72F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FC468-DC76-4C6D-AB7F-F2174B79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isbn  ·  UNIQUE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17EC5-8A28-4216-BC9F-9938BC6D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6919F-9093-4E60-9F82-8700AD72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total_copies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073AC-8C65-4C30-A6A5-E80A996E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0289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B554C-DF6C-4A03-A25D-524B4152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0289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8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41340-7AD5-40D0-8B6F-FFAD81E0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9077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B97C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B97C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7C55"/>
                </a:solidFill>
                <a:latin typeface="Arial"/>
                <a:ea typeface="Arial"/>
                <a:cs typeface="Arial"/>
              </a:rPr>
              <a:t>LOAN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FB3AB-D549-4EDC-8BA3-420EBAD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PK  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BEE20-C362-48EA-9156-235189D3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194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FK  book_id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0B52F-4519-4F9F-B9C4-B67C6DE4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FK  member_id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619FA-5FF8-4564-8F38-96F1B7FE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290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borrowed_on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0532A7-31DE-4DC6-89E1-1C50CFCC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due_on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1214E-50B3-4DE9-9008-EFEBFCCD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returned_on  ·  nullable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28DFDA-C7AD-4470-8BA3-331B532B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0289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D6763-206C-48EC-B137-06DBA186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0289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83981-0F65-45FC-8B8A-5E8AAAB4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9077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MEMBER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2A13D-62F3-4864-977E-B7E365C9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PK  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0E57F6-3A3A-4E22-B8E0-A5AD66DC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281A36-4C41-4A9C-AB8B-AC2186CC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email  ·  UNIQUE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5EFD23-1C74-4AE4-BC34-3313C3B7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290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phone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83A087-48F2-425F-BD22-F8ECAB64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338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joined_at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782159-1CDB-4CA7-A383-F697490B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48075"/>
            <a:ext cx="6858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2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82ED10-23BC-4C50-AD60-C6B1B4B7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48075"/>
            <a:ext cx="6858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2B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47F06C-3F2F-45D5-9799-DDB43918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43275"/>
            <a:ext cx="6096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8AC2CC-2AFA-4CA0-9BA8-43A97A6F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52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1 : MANY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C071E8-5F0F-414D-9757-7AD4F49D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343275"/>
            <a:ext cx="6096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AC842F-CD06-4FCD-97CE-E8703CEA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52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1 : MANY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1B2C87-4DE6-432C-A406-AB53925D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458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45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442D5B-E838-4935-95AF-BEF32197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3402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D6E4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D6E4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6E4D9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11FABB-3AD4-4E7E-BBF8-820478DF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14975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total copies − active loans (returned_on is empty)</a:t>
            </a:r>
          </a:p>
        </p:txBody>
      </p:sp>
    </p:spTree>
    <p:extLst>
      <p:ext uri="{BB962C8B-B14F-4D97-AF65-F5344CB8AC3E}">
        <p14:creationId xmlns:p14="http://schemas.microsoft.com/office/powerpoint/2010/main" val="510110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A80588-351C-4C8D-A5F5-0D5AA1DE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05 · USER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12A5A-80F3-4107-9DF6-ED207813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Interface and responsive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371A3-56C6-4EC6-AD03-51D0475F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BD5B2-1257-4448-8412-E8B3207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JAVA 21  ·  JAKARTA SERVLETS  ·  JDBC + H2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F9B08-B958-44FA-B25C-B775E234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E7F15-85EB-4B94-99F0-F5F1F154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The desk dashboard brings the next common action close to the information staff need.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C992F-8109-42BC-A749-3E477882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723900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EDD9A-9E83-4FBE-AAFE-22BF1589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447800" cy="36004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9B110-E95C-4E8A-8E57-E60B6340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193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b.  bookhaven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CB07A-2CD3-471E-BE31-CDF2D206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86050"/>
            <a:ext cx="109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75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31B03-8FF6-47A1-A222-31B5A7D2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62275"/>
            <a:ext cx="1209675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296E7-D792-4F07-9A4F-FF4E82D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104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▦   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B228F-8930-4377-9D2A-C8E7CC2A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▤   Book catalog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FAE0B-FDB9-44B5-BE38-1774749D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⇄   Circulation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B9659-4E4D-4546-8201-BD144777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♙   Members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C4F33-17E2-48E1-8D38-BE79820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5742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Your library, in good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AA8C6-4353-4DD2-9A54-2416DB62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466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A little overview of your shelves today.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273C3-0E1B-4788-AE35-350313F7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71800"/>
            <a:ext cx="11620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70470-A25C-4F97-A317-2B6D8E9B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Titles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D5025C-310F-4097-BA5C-B0E63A6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861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6DF03-89D2-4302-8340-96BE7288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71800"/>
            <a:ext cx="11620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BE069-5052-4C0E-A0B5-B091ED9A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861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FF4A3-2DA6-42F0-8E57-05629C09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861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FE72ED-0E1D-403F-9B1A-CAF2ED7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71800"/>
            <a:ext cx="11620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33D9C-3F3B-4F5E-A257-1C537BCE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861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Borrowed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594BF-29E2-4437-A4FB-94A810BA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861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6AE99-C100-4156-9AF7-4B923EE6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971800"/>
            <a:ext cx="11620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42D6E7-1145-4770-AC71-AFE666E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Members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6628BB-4261-4706-8332-165495DE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214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AC4741-B837-4E5A-95F5-26C86A6F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95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Book catalog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74D21-86FC-45E5-9F8D-794629E2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521970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197287-7623-40AE-905A-F37252D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481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9B9A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B9A9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9A92"/>
                </a:solidFill>
                <a:latin typeface="Arial"/>
                <a:ea typeface="Arial"/>
                <a:cs typeface="Arial"/>
              </a:rPr>
              <a:t>Search title, author, or category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B8CD73-A297-4CB1-A825-ADECF383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01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0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0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BOOK                         CATEGORY                AVAILABILITY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B31BB3-37D4-494C-B998-B69DDEA0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9650"/>
            <a:ext cx="521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5125C2-E77D-4B49-8206-DB7044CE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The Midnight Library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7F0A83-1332-4281-A7F5-6E4B15BB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848225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Fiction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05B121-8D69-48D2-882A-796D2645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4822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75" b="0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345A48"/>
                </a:solidFill>
                <a:latin typeface="Arial"/>
                <a:ea typeface="Arial"/>
                <a:cs typeface="Arial"/>
              </a:rPr>
              <a:t>4 of 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2DB979-AADE-41FB-A727-83A923A0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57775"/>
            <a:ext cx="521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D9A93E-6C71-4808-BA9C-118E9F23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6350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Atomic Habits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89CA2D-A0D5-4C98-9D1D-24E20773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0863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906A26-3A9A-4325-8A65-D93C806A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75" b="0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345A48"/>
                </a:solidFill>
                <a:latin typeface="Arial"/>
                <a:ea typeface="Arial"/>
                <a:cs typeface="Arial"/>
              </a:rPr>
              <a:t>3 of 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C40049-B24A-44DD-9BF8-95642582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95900"/>
            <a:ext cx="521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C4FF76-3BB6-4F44-AD77-4029142D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24475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The Hobbit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170B7A-4083-46A8-AE3E-02AD0C37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324475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Fantasy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A9772E-D38A-4C80-8F28-26CA43C6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2447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75" b="0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345A48"/>
                </a:solidFill>
                <a:latin typeface="Arial"/>
                <a:ea typeface="Arial"/>
                <a:cs typeface="Arial"/>
              </a:rPr>
              <a:t>2 of 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DA13DF-2BB5-4912-8F27-274377C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2914650" cy="36004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345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7430BD-48CA-403F-B470-E20CAC86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C9D9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C9D9C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9D9CD"/>
                </a:solidFill>
                <a:latin typeface="Arial"/>
                <a:ea typeface="Arial"/>
                <a:cs typeface="Arial"/>
              </a:rPr>
              <a:t>DESIGN CHOICES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B5CC0C-D822-4964-B93B-787E83C6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9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Responsive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D03EF6-26D4-4D76-9A97-65F646B4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765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D8E2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D8E2D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E2DA"/>
                </a:solidFill>
                <a:latin typeface="Arial"/>
                <a:ea typeface="Arial"/>
                <a:cs typeface="Arial"/>
              </a:rPr>
              <a:t>Cards and forms reflow for smaller screens.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F07D41-E694-4E0B-B82E-75D85270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909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state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A91C0E-DD08-4177-9C41-1362AB8C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57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D8E2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D8E2D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E2DA"/>
                </a:solidFill>
                <a:latin typeface="Arial"/>
                <a:ea typeface="Arial"/>
                <a:cs typeface="Arial"/>
              </a:rPr>
              <a:t>Availability, overdue status, and errors are visible.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F33275-55AA-4FFE-9C0D-15FA72DE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71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Focused actions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CD003D-7A93-4E37-B2BC-5AAF55BF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386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D8E2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D8E2D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E2DA"/>
                </a:solidFill>
                <a:latin typeface="Arial"/>
                <a:ea typeface="Arial"/>
                <a:cs typeface="Arial"/>
              </a:rPr>
              <a:t>Add, register, issue, and return from one page.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F28DA6-C7E9-4DE2-BF7B-81540946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Interface wireframe based on the implemented dashboard; sample counts above are illustrative.</a:t>
            </a:r>
          </a:p>
        </p:txBody>
      </p:sp>
    </p:spTree>
    <p:extLst>
      <p:ext uri="{BB962C8B-B14F-4D97-AF65-F5344CB8AC3E}">
        <p14:creationId xmlns:p14="http://schemas.microsoft.com/office/powerpoint/2010/main" val="14719835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7FDB47-46BB-4BF1-A296-5C296194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06 · RUBRIC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25927-A8C5-43AE-B14D-67A89DBB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Java concepts and JDBC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E2046-194F-4609-A07C-0DC13D86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5733F-B8BA-457E-8F07-433D734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JAVA 21  ·  JAKARTA SERVLETS  ·  JDBC + H2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4CBC6-E5AB-4BF0-AB59-6B85E049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7AA3E-3971-40BD-B3C9-C9177CE0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56BD1-2E87-4359-AB49-41CFE702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3810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93636-158F-49B8-8632-85725C84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826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826FA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26F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58A03-037A-458A-B668-844F2E19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85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OOP + polymorphism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03898-9AE8-4627-8974-F60E189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66900"/>
            <a:ext cx="7172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Abstract LibraryEntity with Book, Member, and Loan subclasses; shared display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C9FF8-F393-4749-B6FB-960731FE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9D24B-C747-42FF-BD0D-09C24FEB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3810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002FD-C51B-40EC-B924-E0F5F03D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812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6783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6783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83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C885A-CA64-4887-9C39-869B307C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1460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Interfaces + generics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BB1FE-EDCF-40AE-8B88-D36DF2D1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95550"/>
            <a:ext cx="7172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Repository contracts define typed operations and List&lt;T&gt; results.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7522E-7E82-4F6D-9E91-000283C6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CA50D-F2C6-4595-AEFC-3D17B655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810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8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CA2C0-A47F-40B2-A2F6-5932B7AA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B97C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B97C5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7C5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C6F13-8B0B-479D-9840-CCC4099D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32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Exceptions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F2957-CF66-49E1-95F0-3FB352F2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24200"/>
            <a:ext cx="7172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Validation, not-found, duplicate, and database failures return clear API errors.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915A9-BB8D-41DE-BB3A-937A4145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A58D8-EC14-4482-AF43-66FC114B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810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F8C7B-A6C5-4011-8089-588C246A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8B228-7002-42F0-826D-1B942CE6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JDBC + database classes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1EDD1-F4C1-4D1A-8275-425AAA59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52850"/>
            <a:ext cx="7172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JdbcBookRepository, JdbcMemberRepository, and JdbcLoanRepository use prepared statements.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3EBC9-5E9C-40BC-91BD-6CDB216A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7804C-8F95-4C6A-9CFF-62E364D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3810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1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105580-596F-4BB0-A000-D73F0E61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EDBA5-65FD-469C-B561-D13FF1F5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005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Transaction safety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CE742D-65DD-41ED-9E83-32293EF7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381500"/>
            <a:ext cx="7172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Issue checks availability and creates the loan in one transaction with a row lock.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CD05BC-49EB-40C5-BB62-9F4F2D64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5EA3FF-BA9B-45F4-A895-9AEEADBB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3810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79FA25-B106-4BCB-A916-0EABF4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826F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826FA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26F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5B54F1-4432-4533-88B6-66E8D206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73674E-09AF-4663-A5A2-2A39153A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10150"/>
            <a:ext cx="7172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A scheduled executor performs the overdue scan while Tomcat serves HTTP requests.</a:t>
            </a:r>
          </a:p>
        </p:txBody>
      </p:sp>
    </p:spTree>
    <p:extLst>
      <p:ext uri="{BB962C8B-B14F-4D97-AF65-F5344CB8AC3E}">
        <p14:creationId xmlns:p14="http://schemas.microsoft.com/office/powerpoint/2010/main" val="1150218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F2B478-11F7-4FA3-B2E6-A7EC96F3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07 · REVIEW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828DF-F80D-4EA3-8AFE-1FACF447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Demo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62ED8-DEA6-45BE-90A9-090145DB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3CCF1-F95D-42D7-8B7D-266F21DB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JAVA 21  ·  JAKARTA SERVLETS  ·  JDBC + H2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7C523-7933-4AF6-BC58-481FA90E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979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0824B-B3B7-4456-B77F-2E3F218F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A three-minute demo can show the complete circulation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C0911-9515-4590-9467-0227001E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24075"/>
            <a:ext cx="571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AEAA5-740B-4F16-9F7D-F0A7F486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A08C5-D12F-4C33-870D-3143B60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7B68F-39A6-4C20-90D5-ABBE7185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002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8FC88-2068-4BC8-82F3-E09E1BE6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0275"/>
            <a:ext cx="3314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Find a book by title or author.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F77DC-4928-4367-8B8A-D0EDEFA5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571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59F46-F9F4-4A90-8138-612E6C3A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55B30-7E3F-49C1-B5DD-B3D379EC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19BA7-7E89-4C2C-A07E-5B7ECBD8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9432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Register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0C34B-358F-4B71-91CA-4C81D07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43225"/>
            <a:ext cx="3314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Add a reader with contact details.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0AECA-FEF8-4338-B1AF-D97E37CA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571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75F53-E134-4920-8780-AB5A058B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45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3038B-54E1-4164-905D-B7AF486E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91FF1-67B5-43F5-AA48-1F98A810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861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95328-B135-4BD8-825B-AF00301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86175"/>
            <a:ext cx="3314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Choose a book and member; show due date.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FC88D9-756B-4AEF-BD2F-65DD96F4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571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8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60424-4E47-4228-AFBD-FEA3AA9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86342-C9C6-41C1-9873-EA9FC3D9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0D79C-7D33-4EF9-9056-3C086F2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291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E13E7F-0993-457C-B791-5D76A65E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29125"/>
            <a:ext cx="3314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979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97970"/>
                </a:solidFill>
                <a:latin typeface="Arial"/>
                <a:ea typeface="Arial"/>
                <a:cs typeface="Arial"/>
              </a:rPr>
              <a:t>Mark the loan returned and check availability.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1D522-F802-475D-A1F8-17082C16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24075"/>
            <a:ext cx="43815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E3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00E29-AEDA-42DF-A0EB-87DEA64F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907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C9D9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C9D9C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D9CD"/>
                </a:solidFill>
                <a:latin typeface="Arial"/>
                <a:ea typeface="Arial"/>
                <a:cs typeface="Arial"/>
              </a:rPr>
              <a:t>NEXT ITERATION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1AAEF8-ADFA-4481-B91D-F0B25591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14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253E43-0AA0-4BCE-976B-FED8EB93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289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Staff authentication and roles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7CC1BE-02A3-4B96-8DDF-8C994DB6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09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B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B133B-53D3-4DF2-9A27-C7C7D302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242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Fines and reminder notifications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27844D-F825-4597-87B1-D7C56E22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B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0FE733-6327-4817-AD33-016C05CE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95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Deployment and production database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4E130F-DCE5-46F5-9E97-82849A0E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345A4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45A48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C82E40-855C-4239-974A-2D08090B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33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424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1F"/>
                </a:solidFill>
                <a:latin typeface="Arial"/>
                <a:ea typeface="Arial"/>
                <a:cs typeface="Arial"/>
              </a:rPr>
              <a:t>JDK 21 + Maven 3.9  ·  mvn clean compile exec:java  ·  http://localhost:8080</a:t>
            </a:r>
          </a:p>
        </p:txBody>
      </p:sp>
    </p:spTree>
    <p:extLst>
      <p:ext uri="{BB962C8B-B14F-4D97-AF65-F5344CB8AC3E}">
        <p14:creationId xmlns:p14="http://schemas.microsoft.com/office/powerpoint/2010/main" val="1056547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2026-10-09T16:55:52.3490000Z</dcterms:created>
  <dcterms:modified xsi:type="dcterms:W3CDTF">2026-10-09T16:55:52.3490000Z</dcterms:modified>
</coreProperties>
</file>